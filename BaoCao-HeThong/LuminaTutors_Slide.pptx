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868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0F1C2E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9A84C"/>
                </a:solidFill>
                <a:latin typeface="Calibri"/>
              </a:rPr>
              <a:t>BÁO CÁO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146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FFFFFF"/>
                </a:solidFill>
                <a:latin typeface="Cambria"/>
              </a:rPr>
              <a:t>LUMINA TUTORS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1">
                <a:solidFill>
                  <a:srgbClr val="E2C97E"/>
                </a:solidFill>
                <a:latin typeface="Cambria"/>
              </a:rPr>
              <a:t>Hệ Thống Quản Lý Giáo Dục Đa Trường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7E0EE"/>
                </a:solidFill>
                <a:latin typeface="Calibri"/>
              </a:rPr>
              <a:t>Mô hình kinh doanh  ·  Giao diện  ·  Kiến trúc  ·  Dữ liệu  ·  Công nghệ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Người thực hiện: </a:t>
            </a:r>
            <a:r>
              <a:rPr sz="1300" b="0" i="0">
                <a:solidFill>
                  <a:srgbClr val="D7E0EE"/>
                </a:solidFill>
                <a:latin typeface="Calibri"/>
              </a:rPr>
              <a:t>Khuong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    Vai trò: </a:t>
            </a:r>
            <a:r>
              <a:rPr sz="1300" b="0" i="0">
                <a:solidFill>
                  <a:srgbClr val="D7E0EE"/>
                </a:solidFill>
                <a:latin typeface="Calibri"/>
              </a:rPr>
              <a:t>Full-Stack Web Developer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CA3AF"/>
                </a:solidFill>
                <a:latin typeface="Calibri"/>
              </a:rPr>
              <a:t>ASP.NET Core 8.0 MVC · Clean Architecture · SQL Server 2022          26/06/2026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TỔNG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Nội dung trình bày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039112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2082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0253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C2E"/>
                </a:solidFill>
                <a:latin typeface="Cambria"/>
              </a:rPr>
              <a:t>Giới thiệu tổng quan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59736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Sản phẩm, 7 vai trò, kiến trúc đa trường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78308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9440" y="2039112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02082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00253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C2E"/>
                </a:solidFill>
                <a:latin typeface="Cambria"/>
              </a:rPr>
              <a:t>Mô hình kinh doanh (Selling)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459736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Subscription · Add-on · Transaction Fee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10128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" y="3566160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547872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5295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C2E"/>
                </a:solidFill>
                <a:latin typeface="Cambria"/>
              </a:rPr>
              <a:t>Giao diện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98678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Hệ thống thiết kế &amp; bản đồ màn hình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310128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0" y="3566160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547872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5295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C2E"/>
                </a:solidFill>
                <a:latin typeface="Cambria"/>
              </a:rPr>
              <a:t>Mô hình hệ thống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98678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Triển khai &amp; Clean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837176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3000" y="5093208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074920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05663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C2E"/>
                </a:solidFill>
                <a:latin typeface="Cambria"/>
              </a:rPr>
              <a:t>Cấu trúc dữ liệu &amp; Đường đi dữ liệu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5138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Sơ đồ ER, vòng đời request, thanh toán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837176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49440" y="5093208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5074920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05663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C2E"/>
                </a:solidFill>
                <a:latin typeface="Cambria"/>
              </a:rPr>
              <a:t>Công nghệ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55138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Backend · AI · Mobile · Tích hợp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Giới thiệu tổng quan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64922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Nền tảng quản lý giáo dục đa trường (multi-tenant) cho các trường tư thục Việt Nam, xây dựng trên ASP.NET Core 8.0 MVC theo kiến trúc Clean Architecture.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Số hóa toàn bộ vận hành: học vụ, điểm danh (QR / thủ công / nhận diện khuôn mặt), sổ điểm TT22, tài chính, nhân sự, kỷ luật, giao tiếp — kèm Gia Sư AI offline (Ollama) và app mobile React Native.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Mỗi trường là một “tenant” được cách ly dữ liệu qua SchoolId.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98424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F1C2E"/>
                </a:solidFill>
                <a:latin typeface="Cambri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97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E"/>
                </a:solidFill>
                <a:latin typeface="Calibri"/>
              </a:rPr>
              <a:t>vai trò vận hành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98424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C9A84C"/>
                </a:solidFill>
                <a:latin typeface="Cambria"/>
              </a:rPr>
              <a:t>40+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697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E"/>
                </a:solidFill>
                <a:latin typeface="Calibri"/>
              </a:rPr>
              <a:t>bảng dữ liệu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3832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58444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F1C2E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E"/>
                </a:solidFill>
                <a:latin typeface="Calibri"/>
              </a:rPr>
              <a:t>tầng kiến trúc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33832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58444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E"/>
                </a:solidFill>
                <a:latin typeface="Calibri"/>
              </a:rPr>
              <a:t>nền tảng Web +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Mô hình kinh doanh — loại hình Selling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B7E"/>
                </a:solidFill>
                <a:latin typeface="Calibri"/>
              </a:rPr>
              <a:t>Là SaaS B2B, Lumina Tutors chọn Subscription làm cốt lõi, bổ sung Add-on (≈ Usage-Based) và sẵn sàng cho Transaction Fee.</a:t>
            </a:r>
          </a:p>
        </p:txBody>
      </p:sp>
      <p:pic>
        <p:nvPicPr>
          <p:cNvPr id="8" name="Picture 7" descr="05_esellin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92" y="1874519"/>
            <a:ext cx="6526911" cy="423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E"/>
                </a:solidFill>
                <a:latin typeface="Calibri"/>
              </a:rPr>
              <a:t>Hình 1. Mô hình E-Selling và ánh xạ sang các loại hình Selling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Subscription Selling — mô hình cốt lõi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2093976"/>
            <a:ext cx="457200" cy="457200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0756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43200"/>
            <a:ext cx="29169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1C2E"/>
                </a:solidFill>
                <a:latin typeface="Cambria"/>
              </a:rPr>
              <a:t>SubscriptionPlan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566160"/>
            <a:ext cx="2916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Gói BASIC / PREMIUM (Tier), giá theo 3 chu kỳ Tháng / Quý / Năm; cờ IncludesAiTutor / IncludesVirtualLab.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8308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56048" y="2093976"/>
            <a:ext cx="457200" cy="457200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20756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743200"/>
            <a:ext cx="29169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1C2E"/>
                </a:solidFill>
                <a:latin typeface="Cambria"/>
              </a:rPr>
              <a:t>SchoolSubscription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566160"/>
            <a:ext cx="2916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Đăng ký của từng trường: BillingCycle, Status (Pending→Active→Expired/Cancelled), AutoRenew tự gia hạn.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78308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0808" y="2093976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0808" y="20756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1C2E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743200"/>
            <a:ext cx="29169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F1C2E"/>
                </a:solidFill>
                <a:latin typeface="Cambria"/>
              </a:rPr>
              <a:t>RequireActiveSubscriptionFilter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3566160"/>
            <a:ext cx="2916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Cổng chặn: không có gói Active thì không truy cập được — bảo đảm doanh thu định kỳ.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800600"/>
            <a:ext cx="10451592" cy="86868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84632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Doanh thu định kỳ, dự đoán được (MRR / ARR) — phù hợp ngân sách trường học theo năm / kỳ.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2.2 –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Các loại hình Selling khác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ÁP DỤNG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212080" cy="1188720"/>
          </a:xfrm>
          <a:prstGeom prst="roundRect">
            <a:avLst>
              <a:gd name="adj" fmla="val 6000"/>
            </a:avLst>
          </a:prstGeom>
          <a:solidFill>
            <a:srgbClr val="ECF7F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945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C2E"/>
                </a:solidFill>
                <a:latin typeface="Cambria"/>
              </a:rPr>
              <a:t>Add-on / Feature-based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7860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Bán lẻ AI Tutor &amp; Virtual Lab — biến thể của Usage-Based Selling.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37560"/>
            <a:ext cx="5212080" cy="1188720"/>
          </a:xfrm>
          <a:prstGeom prst="roundRect">
            <a:avLst>
              <a:gd name="adj" fmla="val 6000"/>
            </a:avLst>
          </a:prstGeom>
          <a:solidFill>
            <a:srgbClr val="ECF7F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C2E"/>
                </a:solidFill>
                <a:latin typeface="Cambria"/>
              </a:rPr>
              <a:t>Transaction Fee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448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Hạ tầng VNPay đã xử lý học phí → có thể thu phí trên mỗi giao dịch.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74C3C"/>
                </a:solidFill>
                <a:latin typeface="Calibri"/>
              </a:rPr>
              <a:t>KHÔNG ÁP DỤNG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11680"/>
            <a:ext cx="4965192" cy="80467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305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3650"/>
                </a:solidFill>
                <a:latin typeface="Cambria"/>
              </a:rPr>
              <a:t>Product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323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E"/>
                </a:solidFill>
                <a:latin typeface="Calibri"/>
              </a:rPr>
              <a:t>Không bán bản quyền trọn đời — đây là SaaS định kỳ.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926080"/>
            <a:ext cx="4965192" cy="80467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0449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3650"/>
                </a:solidFill>
                <a:latin typeface="Cambria"/>
              </a:rPr>
              <a:t>Advertising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467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E"/>
                </a:solidFill>
                <a:latin typeface="Calibri"/>
              </a:rPr>
              <a:t>Trái định vị “sang trọng, tin cậy” cho nhà trường.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4965192" cy="80467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593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3650"/>
                </a:solidFill>
                <a:latin typeface="Cambria"/>
              </a:rPr>
              <a:t>Affiliate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611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E"/>
                </a:solidFill>
                <a:latin typeface="Calibri"/>
              </a:rPr>
              <a:t>InviteLink chỉ mời giáo viên nội bộ, không tiếp thị liên kết.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Giao diện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81328"/>
            <a:ext cx="2615184" cy="86868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57276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C2E"/>
                </a:solidFill>
                <a:latin typeface="Cambria"/>
              </a:rPr>
              <a:t>The Headmaster's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956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Hệ thống thiết kế chủ đạo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5" y="1481328"/>
            <a:ext cx="2615184" cy="86868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7" y="157276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C2E"/>
                </a:solidFill>
                <a:latin typeface="Cambria"/>
              </a:rPr>
              <a:t>Navy +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7" y="1956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Gold dùng &lt; 10% màn hình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481328"/>
            <a:ext cx="2615184" cy="86868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157276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C2E"/>
                </a:solidFill>
                <a:latin typeface="Cambria"/>
              </a:rPr>
              <a:t>Playfair + 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1956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Tiêu đề serif · nội dung sans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1481328"/>
            <a:ext cx="2615184" cy="86868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157276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C2E"/>
                </a:solidFill>
                <a:latin typeface="Cambria"/>
              </a:rPr>
              <a:t>WCAG 2.1 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1956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Tương phản &amp; bàn phím</a:t>
            </a:r>
          </a:p>
        </p:txBody>
      </p:sp>
      <p:pic>
        <p:nvPicPr>
          <p:cNvPr id="19" name="Picture 18" descr="06_interfa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390" y="2514600"/>
            <a:ext cx="5810914" cy="3593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E"/>
                </a:solidFill>
                <a:latin typeface="Calibri"/>
              </a:rPr>
              <a:t>Hình 2. Bản đồ giao diện theo vai trò (Web + Mobile)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Mô hình hệ thống</a:t>
            </a:r>
          </a:p>
        </p:txBody>
      </p:sp>
      <p:pic>
        <p:nvPicPr>
          <p:cNvPr id="7" name="Picture 6" descr="01_system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41" y="1371600"/>
            <a:ext cx="7457612" cy="4736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E"/>
                </a:solidFill>
                <a:latin typeface="Calibri"/>
              </a:rPr>
              <a:t>Hình 3. Kiến trúc triển khai tổng thể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Clean Architecture — 4 tầng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37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C2E"/>
                </a:solidFill>
                <a:latin typeface="Cambria"/>
              </a:rPr>
              <a:t>1.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E"/>
                </a:solidFill>
                <a:latin typeface="Calibri"/>
              </a:rPr>
              <a:t>MVC + API + SignalR Hubs, Razor Views, Filters,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70632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C2E"/>
                </a:solidFill>
                <a:latin typeface="Cambria"/>
              </a:rPr>
              <a:t>2.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E"/>
                </a:solidFill>
                <a:latin typeface="Calibri"/>
              </a:rPr>
              <a:t>Services trả về Result&lt;T&gt;, DTOs, AutoMapper, FluentValidation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49624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9592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C2E"/>
                </a:solidFill>
                <a:latin typeface="Cambria"/>
              </a:rPr>
              <a:t>3.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525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E"/>
                </a:solidFill>
                <a:latin typeface="Calibri"/>
              </a:rPr>
              <a:t>DbContext, GenericRepository, UnitOfWork, AuditInterceptor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928616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C9A84C"/>
                </a:solidFill>
                <a:latin typeface="Cambria"/>
              </a:rPr>
              <a:t>4.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3153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7E0EE"/>
                </a:solidFill>
                <a:latin typeface="Calibri"/>
              </a:rPr>
              <a:t>Entities, Enums, Interfaces — lõi thuần C#, không phụ thuộc ngoài</a:t>
            </a:r>
          </a:p>
        </p:txBody>
      </p:sp>
      <p:pic>
        <p:nvPicPr>
          <p:cNvPr id="19" name="Picture 18" descr="02_clea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15" y="1691640"/>
            <a:ext cx="7087663" cy="4617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E"/>
                </a:solidFill>
                <a:latin typeface="Calibri"/>
              </a:rPr>
              <a:t>Phụ thuộc hướng vào trong: Web →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Kiến trúc phòng học 3D (Lumina Nexus)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Tách 2 mặt phẳng: SignalR lo signaling + đồng bộ 3D; SFU (SIPSorcery) chuyển tiếp media — media đi thẳng, không qua Hub.</a:t>
            </a:r>
          </a:p>
        </p:txBody>
      </p:sp>
      <p:pic>
        <p:nvPicPr>
          <p:cNvPr id="8" name="Picture 7" descr="07_nexu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604" y="1828800"/>
            <a:ext cx="6136486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E"/>
                </a:solidFill>
                <a:latin typeface="Calibri"/>
              </a:rPr>
              <a:t>Lumina Nexus — tách control-plane (SignalR) &amp; media-plane (SFU · SIPSorcery)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Mô hình cấu trúc dữ liệu (ER)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40+ bảng · enum lưu chuỗi · base: BaseEntity / AuditableEntity / TenantEntity · hub: SubjectAssignment.</a:t>
            </a:r>
          </a:p>
        </p:txBody>
      </p:sp>
      <p:pic>
        <p:nvPicPr>
          <p:cNvPr id="8" name="Picture 7" descr="03_er_data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175" y="1828800"/>
            <a:ext cx="6181344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E"/>
                </a:solidFill>
                <a:latin typeface="Calibri"/>
              </a:rPr>
              <a:t>Hình 5. Sơ đồ thực thể — quan hệ theo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Đường đi của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E"/>
                </a:solidFill>
                <a:latin typeface="Calibri"/>
              </a:rPr>
              <a:t>Vòng đời request xuyên 4 tầng + luồng thanh toán VNPay (IPN xác thực HMAC-SHA512, idempotent).</a:t>
            </a:r>
          </a:p>
        </p:txBody>
      </p:sp>
      <p:pic>
        <p:nvPicPr>
          <p:cNvPr id="8" name="Picture 7" descr="04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135" y="1828800"/>
            <a:ext cx="6637424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E"/>
                </a:solidFill>
                <a:latin typeface="Calibri"/>
              </a:rPr>
              <a:t>Hình 6. Vòng đời request &amp; luồng thanh toán VNPay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PHẦN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C2E"/>
                </a:solidFill>
                <a:latin typeface="Cambria"/>
              </a:rPr>
              <a:t>Công nghệ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1947672"/>
            <a:ext cx="146304" cy="146304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0744" y="1874520"/>
            <a:ext cx="2724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C2E"/>
                </a:solidFill>
                <a:latin typeface="Cambria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295144"/>
            <a:ext cx="29443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ASP.NET Core 8 (MVC + API), EF Core 8, SignalR, Serilog, AutoMapper, FluentValidation, QuestPDF, SIPSorcery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69164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45736" y="1947672"/>
            <a:ext cx="146304" cy="146304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1874520"/>
            <a:ext cx="2724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C2E"/>
                </a:solidFill>
                <a:latin typeface="Cambria"/>
              </a:rPr>
              <a:t>Xác thực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295144"/>
            <a:ext cx="29443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Cookie (web) + JWT Bearer (API); policy theo vai trò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7" y="169164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59" y="1947672"/>
            <a:ext cx="146304" cy="146304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1874520"/>
            <a:ext cx="2724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C2E"/>
                </a:solidFill>
                <a:latin typeface="Cambria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295144"/>
            <a:ext cx="29443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Ollama (offline) · qwen2.5:7b hỗ trợ tiếng Việt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29184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4712" y="3547872"/>
            <a:ext cx="146304" cy="146304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0744" y="3474720"/>
            <a:ext cx="2724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C2E"/>
                </a:solidFill>
                <a:latin typeface="Cambria"/>
              </a:rPr>
              <a:t>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895344"/>
            <a:ext cx="29443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React Native + Expo SDK 56, React Navigation v7, Axios, SecureStore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9704" y="329184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45736" y="3547872"/>
            <a:ext cx="146304" cy="146304"/>
          </a:xfrm>
          <a:prstGeom prst="ellipse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3474720"/>
            <a:ext cx="2724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C2E"/>
                </a:solidFill>
                <a:latin typeface="Cambria"/>
              </a:rPr>
              <a:t>Tích hợp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3895344"/>
            <a:ext cx="29443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VNPay (thanh toán) · AWS S3 (lưu trữ) · AWS SES (email)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7" y="329184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66759" y="3547872"/>
            <a:ext cx="146304" cy="146304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3474720"/>
            <a:ext cx="2724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C2E"/>
                </a:solidFill>
                <a:latin typeface="Cambria"/>
              </a:rPr>
              <a:t>Kiểm thử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3895344"/>
            <a:ext cx="29443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E"/>
                </a:solidFill>
                <a:latin typeface="Calibri"/>
              </a:rPr>
              <a:t>xUnit + Moq + FluentAssertions · SpecFlow (BDD) + Selenium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Lumina Tutors — Báo cáo hệ thống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59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A84C"/>
                </a:solidFill>
                <a:latin typeface="Cambria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E7EDF5"/>
                </a:solidFill>
                <a:latin typeface="Calibri"/>
              </a:rPr>
              <a:t>Lumina Tutors là sản phẩm SaaS giáo dục theo mô hình Subscription Selling, mở rộng bằng Add-on và sẵn sàng cho Transaction Fee, trên nền Clean Architecture vững chắc.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8036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1A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3264408"/>
            <a:ext cx="256032" cy="25603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30632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C97E"/>
                </a:solidFill>
                <a:latin typeface="Cambria"/>
              </a:rPr>
              <a:t>Mô hình doanh thu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341071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D8E6"/>
                </a:solidFill>
                <a:latin typeface="Calibri"/>
              </a:rPr>
              <a:t>Subscription cốt lõi + Add-on + Transaction Fee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8036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1A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3264408"/>
            <a:ext cx="256032" cy="25603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0632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C97E"/>
                </a:solidFill>
                <a:latin typeface="Cambria"/>
              </a:rPr>
              <a:t>Kiến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41071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D8E6"/>
                </a:solidFill>
                <a:latin typeface="Calibri"/>
              </a:rPr>
              <a:t>Clean Architecture 4 tầng, đa trường theo SchoolId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148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1A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4498848"/>
            <a:ext cx="256032" cy="25603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1912" y="42976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C97E"/>
                </a:solidFill>
                <a:latin typeface="Cambria"/>
              </a:rPr>
              <a:t>Dữ liệu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64515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D8E6"/>
                </a:solidFill>
                <a:latin typeface="Calibri"/>
              </a:rPr>
              <a:t>40+ bảng có kỷ luật, đường đi rõ ràng client → CSDL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1A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4498848"/>
            <a:ext cx="256032" cy="25603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42976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C97E"/>
                </a:solidFill>
                <a:latin typeface="Cambria"/>
              </a:rPr>
              <a:t>Mở rộng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64515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D8E6"/>
                </a:solidFill>
                <a:latin typeface="Calibri"/>
              </a:rPr>
              <a:t>Ổn định, bảo mật, dễ mở rộng trong tương lai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CA3AF"/>
                </a:solidFill>
                <a:latin typeface="Calibri"/>
              </a:rPr>
              <a:t>Cảm ơn đã theo dõi — Khuong · 26/06/2026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